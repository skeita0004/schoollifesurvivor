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FFBE"/>
    <a:srgbClr val="ECFC05"/>
    <a:srgbClr val="57EBFF"/>
    <a:srgbClr val="FFCCE0"/>
    <a:srgbClr val="FF8A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FE8258-E17F-D182-3DC5-910D8754E24A}" v="323" dt="2025-10-09T13:54:46.226"/>
    <p1510:client id="{DF368209-5813-5C2F-3B3B-31401A8D2FEA}" v="274" dt="2025-10-09T14:26:49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CA380F-E117-128B-E6D7-FCFF8930B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F3C2DC-BC48-6C6F-CCEE-C2F9B1834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DC7E66-D407-5EA3-6B5E-606A85255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6AF03C-2F1A-19AA-A6F1-D5A3DFF0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00D662-9EA0-C261-7897-822DC742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96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C887DE-2180-556A-EAD4-7701A324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955355-FFDA-BBBA-1608-D926418D9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8711EF-4838-AAD4-9271-F44C0B4F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4C91ED-DB02-169E-3534-62677CAA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70C00F-836F-6365-5F47-72146F0A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22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D17A28-BEAA-27FF-6DDC-6FF601D4A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865823-67C5-8C7E-E058-1E10D7FF6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7033DC-B0A9-F386-8C6A-3191834C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6A3C25-7A55-BE0A-11AE-551D3EC9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EAF3FD-B4FB-9687-E6CC-DE760C9F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83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8B594-F93D-D956-F86F-E225328D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5616C0-C99E-7458-7BA9-8FC3D4D29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F760F2-8886-4BDC-9D89-91AD9C338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456C95-FAAD-C712-2D4E-0F90CDAC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23C757-2E48-6B0E-B687-3643D8E1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983562-15D8-EE94-9F8F-323AB946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97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52957F-8BE9-D7BE-B984-A9FA160A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303C31-86B6-6FED-7720-082A6EC4C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C7B487-BE75-43E1-170F-AA367A5DF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F85DD9A-6401-BD19-3F2E-1BDACAD9C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BD04F9-E26B-0303-FFA0-70F0A05C9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7FB3FD2-4A99-16EE-066E-FDB9F2D17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BA77B6E-D26D-2ADE-6206-1DE7C212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18E25B-1734-5DB7-C58E-95FC956F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002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E58EDD-F76C-3E0E-F936-211E6B33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7E0CF15-5C6D-A08C-C03E-1A063222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40C2BE-E9FE-B86F-AD59-E99FBEBC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1366208-DBD1-818A-0588-964F2152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65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59B780A-92AA-A900-67B9-4A8AFBB6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F40919-8910-78E9-ED6C-60B64D1A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6D626F-87E5-48DC-9ACD-2E3D8BE5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21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ACDEE9-F3E3-1EF0-909B-80DCAF8F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F91B5C-58E1-FAA4-C086-AEA1357E1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EE8133-7946-8470-7F2D-A1415F11A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F90822-1612-B40A-4977-5AC71EA5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CA5EBD-AC74-61E0-B35A-73DAE28C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3AA3E1-DE30-07EE-B1CE-06049582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16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5A33B-6F51-2843-1A31-BD364CA8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E66EFF3-D00E-91F2-C07E-4F135DCDD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74F4D7-EC46-E4A1-FB8E-E6CE84972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7F7864-D29F-5912-04BD-08344777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892530-C890-EC58-A673-F5131F74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64FAEC-759E-9EF6-EAF9-67D80864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54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09507C-BC6A-475B-63E9-08E4B544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046191-5B35-DF2D-FCA9-910333695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7AEC1E-DC5B-61D9-BCFF-B722647D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3D5961-4527-E5E6-0D72-642EC549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859CF7-CA3E-2E01-9C41-440DFD68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78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47F2F7-92FD-0E0F-EE6F-D4A43369F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B7C080-370C-DF2E-C7D5-C0DA38FDA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38CD93-25ED-C48E-DD35-587E1F0E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3773A1-0002-8F36-47D9-92E0DB77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321028-6E49-5519-9DBD-AB737D97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8828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43F7-2D51-8D4F-8853-2780E657C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E0A8805-5BD3-137D-19E7-073F502C7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E17748-01FA-336B-3370-D888539D9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C7E3D-4427-42D6-A2E7-9798E0D4EE9C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0BA9D-CD5A-19E0-3118-F5371A608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14D965-26D6-F902-6888-889D8283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9767B-A006-4074-A0C0-3DDE67573B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54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C303C4-08C2-E997-6692-2931B452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7601F7-0233-7C47-91D1-E7519A14D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BB8D0D-96BD-46CF-3756-A3F1EC281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94A6B-A06C-473C-9431-00F2196B4912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D9CFCC-57BA-8E35-6195-A853EC546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24462-8851-9C7B-3F3D-061D981DB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84916-7C9C-4EDD-A519-A911266544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60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D16FC75-63DC-BF1E-53F4-A2A583E15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B17C23-B60B-00EE-D03F-0ED7B10F2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2C8615-6D12-2BA7-1EBC-52CBA7381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C7E3D-4427-42D6-A2E7-9798E0D4EE9C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0E474E-D806-F5C1-639C-220C484C6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71EE09-37AE-B70F-6963-4F9AD4347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9767B-A006-4074-A0C0-3DDE67573B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106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C2D71-F643-80D2-C02D-1AB7F8AE97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8B8452-698F-794F-05FC-746DC17746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19489854-1F90-C076-3C11-EAF2B22C3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36FDAAA-D765-B0AE-9F38-CA7CC227EAB6}"/>
              </a:ext>
            </a:extLst>
          </p:cNvPr>
          <p:cNvSpPr txBox="1"/>
          <p:nvPr/>
        </p:nvSpPr>
        <p:spPr>
          <a:xfrm>
            <a:off x="4415134" y="5349875"/>
            <a:ext cx="7697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不安解消ゲーム</a:t>
            </a:r>
          </a:p>
        </p:txBody>
      </p:sp>
    </p:spTree>
    <p:extLst>
      <p:ext uri="{BB962C8B-B14F-4D97-AF65-F5344CB8AC3E}">
        <p14:creationId xmlns:p14="http://schemas.microsoft.com/office/powerpoint/2010/main" val="348392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D85417-113A-57E5-E3FF-63792F6C6E68}"/>
              </a:ext>
            </a:extLst>
          </p:cNvPr>
          <p:cNvGrpSpPr/>
          <p:nvPr/>
        </p:nvGrpSpPr>
        <p:grpSpPr>
          <a:xfrm>
            <a:off x="3449608" y="148139"/>
            <a:ext cx="4847166" cy="946799"/>
            <a:chOff x="909353" y="481948"/>
            <a:chExt cx="6498166" cy="7807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06990B-5896-DF05-D996-717A099F8590}"/>
                </a:ext>
              </a:extLst>
            </p:cNvPr>
            <p:cNvSpPr/>
            <p:nvPr/>
          </p:nvSpPr>
          <p:spPr>
            <a:xfrm>
              <a:off x="994833" y="586968"/>
              <a:ext cx="63182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6E187E99-450C-2CD1-3E39-DA3D230B6729}"/>
                </a:ext>
              </a:extLst>
            </p:cNvPr>
            <p:cNvSpPr/>
            <p:nvPr/>
          </p:nvSpPr>
          <p:spPr>
            <a:xfrm>
              <a:off x="909353" y="481948"/>
              <a:ext cx="6498166" cy="780723"/>
            </a:xfrm>
            <a:prstGeom prst="frame">
              <a:avLst/>
            </a:prstGeom>
            <a:solidFill>
              <a:srgbClr val="57E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28935645-2153-4028-5500-FDFFA03B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34" y="0"/>
            <a:ext cx="10515600" cy="1325563"/>
          </a:xfrm>
        </p:spPr>
        <p:txBody>
          <a:bodyPr/>
          <a:lstStyle/>
          <a:p>
            <a:pPr algn="ctr"/>
            <a:r>
              <a:rPr kumimoji="1" lang="ja-JP" altLang="en-US" b="1" i="1" dirty="0">
                <a:solidFill>
                  <a:srgbClr val="FF0000"/>
                </a:solidFill>
                <a:latin typeface="HGP創英ﾌﾟﾚｾﾞﾝｽEB"/>
                <a:ea typeface="HGP創英ﾌﾟﾚｾﾞﾝｽEB"/>
              </a:rPr>
              <a:t>操作説明</a:t>
            </a:r>
            <a:endParaRPr lang="en-US" altLang="ja-JP">
              <a:solidFill>
                <a:srgbClr val="FF0000"/>
              </a:solidFill>
              <a:ea typeface="游ゴシック Light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330FCBE8-CB14-92B1-E19F-0EFF941179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3370" y="2888185"/>
            <a:ext cx="4212340" cy="3571810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3A3C5EF0-E3BB-CF09-479E-7813473DBBE7}"/>
              </a:ext>
            </a:extLst>
          </p:cNvPr>
          <p:cNvSpPr txBox="1"/>
          <p:nvPr/>
        </p:nvSpPr>
        <p:spPr>
          <a:xfrm>
            <a:off x="1547282" y="2901412"/>
            <a:ext cx="1034473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err="1">
                <a:solidFill>
                  <a:srgbClr val="FF0000"/>
                </a:solidFill>
                <a:latin typeface="Microsoft YaHei"/>
                <a:cs typeface="Microsoft YaHei"/>
              </a:rPr>
              <a:t>移動</a:t>
            </a:r>
            <a:endParaRPr lang="en-US" sz="400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4EBB71F-6E04-FA57-7A7A-AEF89B612E83}"/>
              </a:ext>
            </a:extLst>
          </p:cNvPr>
          <p:cNvSpPr txBox="1"/>
          <p:nvPr/>
        </p:nvSpPr>
        <p:spPr>
          <a:xfrm>
            <a:off x="8980491" y="3807133"/>
            <a:ext cx="2301919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0" err="1">
                <a:solidFill>
                  <a:srgbClr val="FF0000"/>
                </a:solidFill>
                <a:latin typeface="Microsoft YaHei"/>
                <a:cs typeface="Microsoft YaHei"/>
              </a:rPr>
              <a:t>ジャンプ</a:t>
            </a:r>
            <a:endParaRPr lang="en-US" sz="400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1F969B0-A6E3-77EB-FC96-974707E3E6E6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>
            <a:off x="2581755" y="3215601"/>
            <a:ext cx="2108156" cy="123366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017C13B-139F-D997-200F-A0C1B88B2A47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7019635" y="4121322"/>
            <a:ext cx="1960856" cy="18011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EFB594-3FF9-1234-724F-2BA896A9C48F}"/>
              </a:ext>
            </a:extLst>
          </p:cNvPr>
          <p:cNvSpPr txBox="1"/>
          <p:nvPr/>
        </p:nvSpPr>
        <p:spPr>
          <a:xfrm>
            <a:off x="240145" y="253669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ボタンでタイトルへ</a:t>
            </a:r>
            <a:endParaRPr kumimoji="1"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START</a:t>
            </a:r>
            <a:r>
              <a:rPr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ボタンでプレイ</a:t>
            </a:r>
            <a:endParaRPr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ボタンでページ送り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8457F5D-1D3E-C489-4477-E582DB319CE9}"/>
              </a:ext>
            </a:extLst>
          </p:cNvPr>
          <p:cNvSpPr txBox="1"/>
          <p:nvPr/>
        </p:nvSpPr>
        <p:spPr>
          <a:xfrm>
            <a:off x="86506" y="641966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2/3</a:t>
            </a:r>
            <a:endParaRPr kumimoji="1" lang="ja-JP" altLang="en-US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81AE6043-A177-01D2-00D8-9C69659B155C}"/>
              </a:ext>
            </a:extLst>
          </p:cNvPr>
          <p:cNvSpPr/>
          <p:nvPr/>
        </p:nvSpPr>
        <p:spPr>
          <a:xfrm>
            <a:off x="6567054" y="4061665"/>
            <a:ext cx="452581" cy="47954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0C804494-C62E-DBE8-C786-4F32253E7020}"/>
              </a:ext>
            </a:extLst>
          </p:cNvPr>
          <p:cNvSpPr/>
          <p:nvPr/>
        </p:nvSpPr>
        <p:spPr>
          <a:xfrm>
            <a:off x="4562764" y="4301436"/>
            <a:ext cx="868217" cy="100947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33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3EE86F2-EEEF-7E5F-1ED4-B5CC9524668A}"/>
              </a:ext>
            </a:extLst>
          </p:cNvPr>
          <p:cNvGrpSpPr/>
          <p:nvPr/>
        </p:nvGrpSpPr>
        <p:grpSpPr>
          <a:xfrm>
            <a:off x="3503227" y="126309"/>
            <a:ext cx="4847166" cy="946799"/>
            <a:chOff x="909353" y="481948"/>
            <a:chExt cx="6498166" cy="78072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9BE0AF-9536-C67D-097E-0921A30A3FC7}"/>
                </a:ext>
              </a:extLst>
            </p:cNvPr>
            <p:cNvSpPr/>
            <p:nvPr/>
          </p:nvSpPr>
          <p:spPr>
            <a:xfrm>
              <a:off x="994833" y="586968"/>
              <a:ext cx="63182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526F67DB-726B-D3FE-58B1-EAB3656B5135}"/>
                </a:ext>
              </a:extLst>
            </p:cNvPr>
            <p:cNvSpPr/>
            <p:nvPr/>
          </p:nvSpPr>
          <p:spPr>
            <a:xfrm>
              <a:off x="909353" y="481948"/>
              <a:ext cx="6498166" cy="780723"/>
            </a:xfrm>
            <a:prstGeom prst="frame">
              <a:avLst/>
            </a:prstGeom>
            <a:solidFill>
              <a:srgbClr val="57E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85BA7A3D-9222-093F-BC49-22DE732E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61" y="-11159"/>
            <a:ext cx="10515600" cy="1352839"/>
          </a:xfrm>
        </p:spPr>
        <p:txBody>
          <a:bodyPr/>
          <a:lstStyle/>
          <a:p>
            <a:pPr algn="ctr"/>
            <a:r>
              <a:rPr kumimoji="1" lang="ja-JP" altLang="en-US" b="1" i="1" dirty="0">
                <a:solidFill>
                  <a:srgbClr val="FF0000"/>
                </a:solidFill>
                <a:latin typeface="Lucida Calligraphy"/>
                <a:ea typeface="HGP創英ﾌﾟﾚｾﾞﾝｽEB"/>
              </a:rPr>
              <a:t>ゲームルール</a:t>
            </a:r>
            <a:endParaRPr lang="en-US" altLang="ja-JP">
              <a:solidFill>
                <a:srgbClr val="FF0000"/>
              </a:solidFill>
              <a:ea typeface="游ゴシック Light"/>
            </a:endParaRPr>
          </a:p>
        </p:txBody>
      </p:sp>
      <p:pic>
        <p:nvPicPr>
          <p:cNvPr id="8" name="Content Placeholder 7" descr="落ち込む・落胆・ガッカリする人のシルエット02 | 無料のAi・PNG白黒シルエットイラスト">
            <a:extLst>
              <a:ext uri="{FF2B5EF4-FFF2-40B4-BE49-F238E27FC236}">
                <a16:creationId xmlns:a16="http://schemas.microsoft.com/office/drawing/2014/main" id="{F120F4CF-A86A-B15B-6374-EBDD25D51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1113" y="5101969"/>
            <a:ext cx="1750887" cy="1750887"/>
          </a:xfrm>
          <a:prstGeom prst="rect">
            <a:avLst/>
          </a:prstGeom>
        </p:spPr>
      </p:pic>
      <p:pic>
        <p:nvPicPr>
          <p:cNvPr id="9" name="Picture 8" descr="桜の開花のイラスト（ソメイヨシノ） | かわいいフリー素材集 いらすとや">
            <a:extLst>
              <a:ext uri="{FF2B5EF4-FFF2-40B4-BE49-F238E27FC236}">
                <a16:creationId xmlns:a16="http://schemas.microsoft.com/office/drawing/2014/main" id="{7C2B21D7-4A8B-A7D6-1EB0-D8EAAA5DD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693" y="66374"/>
            <a:ext cx="1319368" cy="1441749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B8CB92F1-8547-A2C4-56F7-961114DF99BB}"/>
              </a:ext>
            </a:extLst>
          </p:cNvPr>
          <p:cNvSpPr txBox="1"/>
          <p:nvPr/>
        </p:nvSpPr>
        <p:spPr>
          <a:xfrm>
            <a:off x="86506" y="1147325"/>
            <a:ext cx="12252475" cy="764953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lang="ja-JP" sz="2400" b="1" spc="-15" dirty="0">
                <a:latin typeface="SimSun"/>
                <a:ea typeface="游ゴシック"/>
                <a:cs typeface="SimSun"/>
              </a:rPr>
              <a:t>現実での学業への妨げとなる誘惑を模した敵を乗り越え</a:t>
            </a:r>
            <a:r>
              <a:rPr lang="ja-JP" sz="2400" b="1" spc="-25" dirty="0">
                <a:latin typeface="SimSun"/>
                <a:ea typeface="游ゴシック"/>
                <a:cs typeface="SimSun"/>
              </a:rPr>
              <a:t>て進む</a:t>
            </a:r>
            <a:endParaRPr lang="ja-JP" altLang="en-US" sz="2400" b="1" dirty="0">
              <a:latin typeface="游ゴシック"/>
              <a:ea typeface="游ゴシック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sz="2400" b="1" spc="-15" dirty="0">
                <a:latin typeface="SimSun"/>
                <a:cs typeface="SimSun"/>
              </a:rPr>
              <a:t>道中には授業や課題などの、卒業までの日数を減らすことができるアイテムが存在する</a:t>
            </a:r>
            <a:endParaRPr sz="2400" b="1" dirty="0">
              <a:latin typeface="SimSun"/>
              <a:ea typeface="SimSun"/>
              <a:cs typeface="SimSu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154C8-CE6D-89A1-5E92-601C9FCB9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156" y="2041070"/>
            <a:ext cx="2082035" cy="5751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9AD2C6-892A-2FAD-048F-89ECC42B5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191" y="2313910"/>
            <a:ext cx="3788261" cy="397370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DAAEE77D-BC10-7B63-2156-606FF72BC837}"/>
              </a:ext>
            </a:extLst>
          </p:cNvPr>
          <p:cNvSpPr txBox="1"/>
          <p:nvPr/>
        </p:nvSpPr>
        <p:spPr>
          <a:xfrm>
            <a:off x="1200339" y="2805934"/>
            <a:ext cx="4550833" cy="148502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lvl="1">
              <a:lnSpc>
                <a:spcPts val="2865"/>
              </a:lnSpc>
              <a:spcBef>
                <a:spcPts val="50"/>
              </a:spcBef>
            </a:pPr>
            <a:r>
              <a:rPr lang="ja-JP" altLang="en-US" sz="2400" b="1" dirty="0">
                <a:latin typeface="游ゴシック"/>
                <a:ea typeface="游ゴシック"/>
              </a:rPr>
              <a:t>卒業までの日数</a:t>
            </a:r>
            <a:endParaRPr lang="en-US" altLang="ja-JP" sz="2400" b="1" dirty="0">
              <a:latin typeface="游ゴシック"/>
              <a:ea typeface="游ゴシック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</a:pPr>
            <a:r>
              <a:rPr lang="ja-JP" altLang="en-US" sz="2400" dirty="0">
                <a:latin typeface="游ゴシック"/>
                <a:ea typeface="游ゴシック"/>
              </a:rPr>
              <a:t>学校を卒業する資格を得るまでにかかる日数</a:t>
            </a:r>
            <a:endParaRPr lang="en-US" sz="2400" dirty="0">
              <a:latin typeface="游ゴシック"/>
              <a:ea typeface="游ゴシック"/>
            </a:endParaRPr>
          </a:p>
          <a:p>
            <a:pPr algn="l"/>
            <a:endParaRPr lang="en-US" dirty="0">
              <a:ea typeface="游ゴシック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B07F9F4C-5651-676C-FFB3-E325667A8363}"/>
              </a:ext>
            </a:extLst>
          </p:cNvPr>
          <p:cNvSpPr txBox="1"/>
          <p:nvPr/>
        </p:nvSpPr>
        <p:spPr>
          <a:xfrm>
            <a:off x="0" y="4479280"/>
            <a:ext cx="6523491" cy="22524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ja-JP" altLang="en-US" sz="3600" b="1" i="1" dirty="0">
                <a:solidFill>
                  <a:srgbClr val="FF0000"/>
                </a:solidFill>
                <a:latin typeface="Microsoft YaHei"/>
                <a:ea typeface="游ゴシック"/>
              </a:rPr>
              <a:t>クリア条件</a:t>
            </a:r>
          </a:p>
          <a:p>
            <a:pPr marL="12700" algn="ctr">
              <a:spcBef>
                <a:spcPts val="105"/>
              </a:spcBef>
            </a:pPr>
            <a:endParaRPr lang="ja-JP" altLang="en-US" sz="2800" b="1" i="1" dirty="0">
              <a:solidFill>
                <a:srgbClr val="FF0000"/>
              </a:solidFill>
              <a:latin typeface="Microsoft YaHei"/>
              <a:ea typeface="游ゴシック"/>
            </a:endParaRPr>
          </a:p>
          <a:p>
            <a:pPr marL="469900" lvl="1" algn="ctr">
              <a:lnSpc>
                <a:spcPts val="2870"/>
              </a:lnSpc>
              <a:spcBef>
                <a:spcPts val="50"/>
              </a:spcBef>
            </a:pPr>
            <a:r>
              <a:rPr lang="ja-JP" altLang="en-US" sz="2800" b="1" i="1" dirty="0">
                <a:solidFill>
                  <a:srgbClr val="FF0000"/>
                </a:solidFill>
                <a:latin typeface="SimSun"/>
                <a:ea typeface="游ゴシック"/>
              </a:rPr>
              <a:t>卒業までの日数が、</a:t>
            </a:r>
            <a:r>
              <a:rPr lang="ja-JP" altLang="en-US" sz="2800" b="1" i="1" u="sng" dirty="0">
                <a:solidFill>
                  <a:srgbClr val="FF0000"/>
                </a:solidFill>
                <a:latin typeface="SimSun"/>
                <a:ea typeface="游ゴシック"/>
              </a:rPr>
              <a:t>規定の日数以内</a:t>
            </a:r>
            <a:endParaRPr lang="en-US" altLang="ja-JP" sz="2800" b="1" i="1" u="sng" dirty="0">
              <a:solidFill>
                <a:srgbClr val="FF0000"/>
              </a:solidFill>
              <a:latin typeface="SimSun"/>
              <a:ea typeface="游ゴシック"/>
            </a:endParaRPr>
          </a:p>
          <a:p>
            <a:pPr marL="469900" lvl="1" algn="ctr">
              <a:lnSpc>
                <a:spcPts val="2870"/>
              </a:lnSpc>
              <a:spcBef>
                <a:spcPts val="50"/>
              </a:spcBef>
            </a:pPr>
            <a:r>
              <a:rPr lang="ja-JP" altLang="en-US" sz="2000" b="1" i="1" dirty="0">
                <a:solidFill>
                  <a:srgbClr val="FF0000"/>
                </a:solidFill>
                <a:latin typeface="SimSun"/>
                <a:ea typeface="游ゴシック"/>
              </a:rPr>
              <a:t>（少なくとも負数になればクリアとなります）</a:t>
            </a:r>
            <a:endParaRPr lang="en-US" altLang="ja-JP" sz="2000" b="1" i="1" dirty="0">
              <a:solidFill>
                <a:srgbClr val="FF0000"/>
              </a:solidFill>
              <a:latin typeface="SimSun"/>
              <a:ea typeface="游ゴシック"/>
            </a:endParaRPr>
          </a:p>
          <a:p>
            <a:pPr marL="469900" lvl="1" algn="ctr">
              <a:lnSpc>
                <a:spcPts val="2870"/>
              </a:lnSpc>
              <a:spcBef>
                <a:spcPts val="50"/>
              </a:spcBef>
            </a:pPr>
            <a:endParaRPr lang="en-US" sz="2800" i="1" dirty="0">
              <a:ea typeface="游ゴシック" panose="02110004020202020204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5C7CE52-B088-2774-5014-45D4A5ADF173}"/>
              </a:ext>
            </a:extLst>
          </p:cNvPr>
          <p:cNvSpPr txBox="1"/>
          <p:nvPr/>
        </p:nvSpPr>
        <p:spPr>
          <a:xfrm>
            <a:off x="5717652" y="2549595"/>
            <a:ext cx="4983041" cy="18620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69900" lvl="1">
              <a:spcBef>
                <a:spcPts val="2825"/>
              </a:spcBef>
            </a:pPr>
            <a:r>
              <a:rPr lang="ja-JP" altLang="en-US" sz="2300" b="1" dirty="0">
                <a:latin typeface="游ゴシック"/>
                <a:ea typeface="游ゴシック"/>
              </a:rPr>
              <a:t>疲労度</a:t>
            </a:r>
            <a:r>
              <a:rPr lang="ja-JP" altLang="en-US" sz="2300" dirty="0">
                <a:latin typeface="游ゴシック"/>
                <a:ea typeface="游ゴシック"/>
              </a:rPr>
              <a:t>　　　　　　　　　　　課題や、勉強に取り組むことで増加する　　　　　　　　　　これがある一定の値を超えると過労死となる</a:t>
            </a:r>
            <a:endParaRPr lang="ja-JP" sz="2300" dirty="0">
              <a:latin typeface="游ゴシック"/>
              <a:ea typeface="游ゴシック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082AC38-52B1-D39E-6029-C1A073FD53F0}"/>
              </a:ext>
            </a:extLst>
          </p:cNvPr>
          <p:cNvSpPr txBox="1"/>
          <p:nvPr/>
        </p:nvSpPr>
        <p:spPr>
          <a:xfrm>
            <a:off x="6815248" y="4642009"/>
            <a:ext cx="362586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2000" b="1" dirty="0"/>
              <a:t>以下の条件になると留年に</a:t>
            </a:r>
            <a:r>
              <a:rPr lang="en-US" altLang="ja-JP" sz="2000" b="1" dirty="0"/>
              <a:t>…</a:t>
            </a:r>
          </a:p>
          <a:p>
            <a:pPr algn="l"/>
            <a:endParaRPr lang="en-US" altLang="ja-JP" sz="2000" b="1" dirty="0"/>
          </a:p>
          <a:p>
            <a:pPr algn="l"/>
            <a:r>
              <a:rPr lang="ja-JP" altLang="en-US" sz="2000" b="1" dirty="0"/>
              <a:t>・穴に落ちる</a:t>
            </a:r>
          </a:p>
          <a:p>
            <a:r>
              <a:rPr lang="ja-JP" altLang="en-US" sz="2000" b="1" dirty="0">
                <a:latin typeface="Arial"/>
                <a:ea typeface="SimSun"/>
                <a:cs typeface="Arial"/>
              </a:rPr>
              <a:t>・</a:t>
            </a:r>
            <a:r>
              <a:rPr lang="ja-JP" altLang="en-US" sz="2000" b="1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Arial"/>
              </a:rPr>
              <a:t>卒業までの日数が不可能な</a:t>
            </a:r>
          </a:p>
          <a:p>
            <a:r>
              <a:rPr lang="ja-JP" altLang="en-US" sz="2000" b="1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Arial"/>
              </a:rPr>
              <a:t>　ほどの長さになる</a:t>
            </a:r>
            <a:r>
              <a:rPr lang="en-US" altLang="ja-JP" sz="2000" b="1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Arial"/>
              </a:rPr>
              <a:t>​</a:t>
            </a:r>
            <a:endParaRPr lang="ja-JP" altLang="en-US" sz="2000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Arial"/>
            </a:endParaRPr>
          </a:p>
          <a:p>
            <a:r>
              <a:rPr lang="ja-JP" altLang="en-US" sz="2000" b="1" dirty="0">
                <a:latin typeface="SimSun"/>
                <a:ea typeface="游ゴシック"/>
                <a:cs typeface="Arial"/>
              </a:rPr>
              <a:t>・過労死する</a:t>
            </a:r>
            <a:endParaRPr lang="en-US" altLang="ja-JP" sz="2000" b="1" dirty="0">
              <a:latin typeface="SimSun"/>
              <a:ea typeface="游ゴシック"/>
              <a:cs typeface="Arial"/>
            </a:endParaRPr>
          </a:p>
          <a:p>
            <a:pPr algn="l"/>
            <a:endParaRPr lang="ja-JP" altLang="en-US" dirty="0"/>
          </a:p>
        </p:txBody>
      </p:sp>
      <p:cxnSp>
        <p:nvCxnSpPr>
          <p:cNvPr id="18" name="Straight Arrow Connector 8">
            <a:extLst>
              <a:ext uri="{FF2B5EF4-FFF2-40B4-BE49-F238E27FC236}">
                <a16:creationId xmlns:a16="http://schemas.microsoft.com/office/drawing/2014/main" id="{D9453C80-019C-9E84-EBCD-BD3B716EA730}"/>
              </a:ext>
            </a:extLst>
          </p:cNvPr>
          <p:cNvCxnSpPr/>
          <p:nvPr/>
        </p:nvCxnSpPr>
        <p:spPr>
          <a:xfrm flipV="1">
            <a:off x="4" y="4416787"/>
            <a:ext cx="12191996" cy="4233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26C17340-DD24-CEE5-4086-DA9240A08F10}"/>
              </a:ext>
            </a:extLst>
          </p:cNvPr>
          <p:cNvCxnSpPr/>
          <p:nvPr/>
        </p:nvCxnSpPr>
        <p:spPr>
          <a:xfrm flipV="1">
            <a:off x="0" y="1926321"/>
            <a:ext cx="12191996" cy="4233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666B61-1449-79A4-D5BD-DE00B02DE785}"/>
              </a:ext>
            </a:extLst>
          </p:cNvPr>
          <p:cNvSpPr txBox="1"/>
          <p:nvPr/>
        </p:nvSpPr>
        <p:spPr>
          <a:xfrm>
            <a:off x="240145" y="253669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ボタンでタイトルへ</a:t>
            </a:r>
            <a:endParaRPr kumimoji="1"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START</a:t>
            </a:r>
            <a:r>
              <a:rPr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ボタンでプレイ</a:t>
            </a:r>
            <a:endParaRPr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ボタンでページ送り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115533C-7A39-D702-9808-A4193DAB111F}"/>
              </a:ext>
            </a:extLst>
          </p:cNvPr>
          <p:cNvSpPr txBox="1"/>
          <p:nvPr/>
        </p:nvSpPr>
        <p:spPr>
          <a:xfrm>
            <a:off x="86506" y="641966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1/3</a:t>
            </a:r>
            <a:endParaRPr kumimoji="1" lang="ja-JP" altLang="en-US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35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2CE07-4B39-4EF6-483F-BE66CACD99E5}"/>
              </a:ext>
            </a:extLst>
          </p:cNvPr>
          <p:cNvGrpSpPr/>
          <p:nvPr/>
        </p:nvGrpSpPr>
        <p:grpSpPr>
          <a:xfrm>
            <a:off x="2947865" y="100170"/>
            <a:ext cx="6507935" cy="946799"/>
            <a:chOff x="909353" y="481948"/>
            <a:chExt cx="6498166" cy="78072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6279101-B50E-A6F6-F261-2DF8ACDD2D73}"/>
                </a:ext>
              </a:extLst>
            </p:cNvPr>
            <p:cNvSpPr/>
            <p:nvPr/>
          </p:nvSpPr>
          <p:spPr>
            <a:xfrm>
              <a:off x="994833" y="586968"/>
              <a:ext cx="63182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6DD9657F-373F-463A-5E06-827C2E7629E7}"/>
                </a:ext>
              </a:extLst>
            </p:cNvPr>
            <p:cNvSpPr/>
            <p:nvPr/>
          </p:nvSpPr>
          <p:spPr>
            <a:xfrm>
              <a:off x="909353" y="481948"/>
              <a:ext cx="6498166" cy="780723"/>
            </a:xfrm>
            <a:prstGeom prst="frame">
              <a:avLst/>
            </a:prstGeom>
            <a:solidFill>
              <a:srgbClr val="57E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4B9731-C851-E07B-B573-5C535FCA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90" y="114753"/>
            <a:ext cx="6510216" cy="1061794"/>
          </a:xfrm>
        </p:spPr>
        <p:txBody>
          <a:bodyPr/>
          <a:lstStyle/>
          <a:p>
            <a:pPr algn="ctr"/>
            <a:r>
              <a:rPr kumimoji="1" lang="ja-JP" altLang="en-US" b="1" i="1" dirty="0">
                <a:solidFill>
                  <a:srgbClr val="FFC000"/>
                </a:solidFill>
                <a:latin typeface="HGP創英ﾌﾟﾚｾﾞﾝｽEB"/>
                <a:ea typeface="HGP創英ﾌﾟﾚｾﾞﾝｽEB"/>
              </a:rPr>
              <a:t>アイテム</a:t>
            </a:r>
            <a:r>
              <a:rPr kumimoji="1" lang="ja-JP" altLang="en-US" b="1" i="1" dirty="0">
                <a:latin typeface="HGP創英ﾌﾟﾚｾﾞﾝｽEB"/>
                <a:ea typeface="HGP創英ﾌﾟﾚｾﾞﾝｽEB"/>
              </a:rPr>
              <a:t>＆</a:t>
            </a:r>
            <a:r>
              <a:rPr kumimoji="1" lang="ja-JP" altLang="en-US" b="1" i="1" dirty="0">
                <a:solidFill>
                  <a:srgbClr val="00B050"/>
                </a:solidFill>
                <a:latin typeface="HGP創英ﾌﾟﾚｾﾞﾝｽEB"/>
                <a:ea typeface="HGP創英ﾌﾟﾚｾﾞﾝｽEB"/>
              </a:rPr>
              <a:t>ギミック</a:t>
            </a:r>
            <a:r>
              <a:rPr kumimoji="1" lang="ja-JP" altLang="en-US" b="1" i="1" dirty="0">
                <a:latin typeface="HGP創英ﾌﾟﾚｾﾞﾝｽEB"/>
                <a:ea typeface="HGP創英ﾌﾟﾚｾﾞﾝｽEB"/>
              </a:rPr>
              <a:t>＆</a:t>
            </a:r>
            <a:r>
              <a:rPr kumimoji="1" lang="ja-JP" altLang="en-US" b="1" i="1" dirty="0">
                <a:solidFill>
                  <a:srgbClr val="FF0000"/>
                </a:solidFill>
                <a:latin typeface="HGP創英ﾌﾟﾚｾﾞﾝｽEB"/>
                <a:ea typeface="HGP創英ﾌﾟﾚｾﾞﾝｽEB"/>
              </a:rPr>
              <a:t>敵</a:t>
            </a:r>
            <a:endParaRPr lang="en-US" altLang="ja-JP">
              <a:solidFill>
                <a:srgbClr val="FF0000"/>
              </a:solidFill>
              <a:ea typeface="游ゴシック Ligh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D167D3-F6F2-2150-9033-78DFDEA96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9602" y="2286154"/>
            <a:ext cx="1094317" cy="1013884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405ACA9A-E1CA-7C2D-835F-DB66683A3C11}"/>
              </a:ext>
            </a:extLst>
          </p:cNvPr>
          <p:cNvSpPr txBox="1"/>
          <p:nvPr/>
        </p:nvSpPr>
        <p:spPr>
          <a:xfrm>
            <a:off x="-282812" y="2288495"/>
            <a:ext cx="3982719" cy="42958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ts val="2865"/>
              </a:lnSpc>
              <a:spcBef>
                <a:spcPts val="2900"/>
              </a:spcBef>
              <a:tabLst>
                <a:tab pos="355600" algn="l"/>
              </a:tabLst>
            </a:pPr>
            <a:r>
              <a:rPr lang="ja-JP" altLang="en-US" sz="2000" b="1" i="1" spc="-15">
                <a:latin typeface="游ゴシック"/>
                <a:ea typeface="游ゴシック"/>
                <a:cs typeface="SimSun"/>
              </a:rPr>
              <a:t>コンピュータ</a:t>
            </a:r>
            <a:endParaRPr lang="en-US" altLang="ja-JP" sz="2000" b="1" i="1" spc="-15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endParaRPr lang="ja-JP" altLang="en-US" spc="-15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endParaRPr lang="ja-JP" altLang="en-US" spc="-15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r>
              <a:rPr lang="ja-JP" altLang="en-US" b="1" spc="-15">
                <a:latin typeface="游ゴシック"/>
                <a:ea typeface="游ゴシック"/>
                <a:cs typeface="SimSun"/>
              </a:rPr>
              <a:t>課題を達成するためには</a:t>
            </a:r>
            <a:r>
              <a:rPr lang="ja-JP" altLang="en-US" sz="2000" b="1" spc="-15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積極的</a:t>
            </a:r>
            <a:r>
              <a:rPr lang="ja-JP" altLang="en-US" b="1" spc="-15">
                <a:latin typeface="游ゴシック"/>
                <a:ea typeface="游ゴシック"/>
                <a:cs typeface="SimSun"/>
              </a:rPr>
              <a:t>に取得しなければならない</a:t>
            </a:r>
            <a:endParaRPr lang="en-US" b="1" spc="-15">
              <a:latin typeface="游ゴシック"/>
              <a:ea typeface="游ゴシック"/>
              <a:cs typeface="SimSun"/>
            </a:endParaRPr>
          </a:p>
          <a:p>
            <a:pPr marL="12700">
              <a:spcBef>
                <a:spcPts val="100"/>
              </a:spcBef>
              <a:tabLst>
                <a:tab pos="355600" algn="l"/>
              </a:tabLst>
            </a:pPr>
            <a:endParaRPr lang="en-US" spc="-15" dirty="0">
              <a:latin typeface="游ゴシック"/>
              <a:ea typeface="SimSun"/>
              <a:cs typeface="SimSun"/>
            </a:endParaRPr>
          </a:p>
          <a:p>
            <a:pPr marL="12700">
              <a:spcBef>
                <a:spcPts val="100"/>
              </a:spcBef>
              <a:tabLst>
                <a:tab pos="355600" algn="l"/>
              </a:tabLst>
            </a:pPr>
            <a:endParaRPr lang="en-US" sz="2000" spc="-15" dirty="0">
              <a:latin typeface="游ゴシック"/>
              <a:ea typeface="SimSun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  <a:buFont typeface="Arial MT"/>
              <a:tabLst>
                <a:tab pos="355600" algn="l"/>
              </a:tabLst>
            </a:pPr>
            <a:r>
              <a:rPr sz="2000" b="1" i="1" spc="-15" err="1">
                <a:latin typeface="游ゴシック"/>
                <a:ea typeface="游ゴシック"/>
                <a:cs typeface="SimSun"/>
              </a:rPr>
              <a:t>おふとん</a:t>
            </a:r>
            <a:endParaRPr sz="2000" b="1" i="1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endParaRPr lang="en-US" sz="2000" spc="-5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r>
              <a:rPr sz="2000" b="1" spc="-5" err="1">
                <a:latin typeface="游ゴシック"/>
                <a:ea typeface="游ゴシック"/>
                <a:cs typeface="SimSun"/>
              </a:rPr>
              <a:t>取得すると、</a:t>
            </a:r>
            <a:r>
              <a:rPr sz="2400" b="1" spc="-5" err="1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疲労度が回復</a:t>
            </a:r>
            <a:endParaRPr sz="2400" b="1">
              <a:solidFill>
                <a:srgbClr val="FF0000"/>
              </a:solidFill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sz="2000" b="1" spc="-5" err="1">
                <a:latin typeface="游ゴシック"/>
                <a:ea typeface="游ゴシック"/>
                <a:cs typeface="SimSun"/>
              </a:rPr>
              <a:t>卒業までの日数が増加</a:t>
            </a:r>
            <a:endParaRPr sz="2000" b="1" spc="-5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355600" algn="l"/>
              </a:tabLst>
            </a:pPr>
            <a:endParaRPr lang="en-US" sz="2000" b="1" spc="-5" dirty="0">
              <a:latin typeface="游ゴシック"/>
              <a:ea typeface="SimSun"/>
              <a:cs typeface="SimSu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45734-2D30-E046-9AB4-6A2DC381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558" y="4438121"/>
            <a:ext cx="1183217" cy="1008592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64F4F1E4-3BA6-9F5B-D801-DACA5A438F61}"/>
              </a:ext>
            </a:extLst>
          </p:cNvPr>
          <p:cNvSpPr txBox="1"/>
          <p:nvPr/>
        </p:nvSpPr>
        <p:spPr>
          <a:xfrm>
            <a:off x="3274216" y="2415290"/>
            <a:ext cx="4383062" cy="390639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>
            <a:defPPr>
              <a:defRPr lang="ja-JP" kern="0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sz="2800" b="1" spc="-30" err="1">
                <a:latin typeface="游ゴシック"/>
                <a:ea typeface="游ゴシック"/>
                <a:cs typeface="SimSun"/>
              </a:rPr>
              <a:t>課題</a:t>
            </a:r>
            <a:endParaRPr lang="en-US" sz="2800" b="1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5" dirty="0">
                <a:latin typeface="游ゴシック"/>
                <a:ea typeface="游ゴシック"/>
                <a:cs typeface="SimSun"/>
              </a:rPr>
              <a:t>取得したのち、コンピュータを</a:t>
            </a:r>
            <a:r>
              <a:rPr sz="2800" b="1" spc="280" dirty="0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5</a:t>
            </a:r>
            <a:r>
              <a:rPr lang="ja-JP" sz="2800" b="1" spc="-15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個</a:t>
            </a:r>
            <a:r>
              <a:rPr lang="ja-JP" b="1" spc="-15">
                <a:latin typeface="游ゴシック"/>
                <a:ea typeface="游ゴシック"/>
                <a:cs typeface="SimSun"/>
              </a:rPr>
              <a:t>取ると完遂することができ、卒業までの日数が減る</a:t>
            </a:r>
            <a:r>
              <a:rPr lang="ja-JP" altLang="en-US" b="1" spc="-15" dirty="0">
                <a:latin typeface="游ゴシック"/>
                <a:ea typeface="游ゴシック"/>
                <a:cs typeface="SimSun"/>
              </a:rPr>
              <a:t>　　</a:t>
            </a:r>
            <a:r>
              <a:rPr lang="ja-JP" b="1" spc="-10" err="1">
                <a:latin typeface="游ゴシック"/>
                <a:ea typeface="游ゴシック"/>
                <a:cs typeface="SimSun"/>
              </a:rPr>
              <a:t>疲労度が増える</a:t>
            </a:r>
            <a:endParaRPr b="1">
              <a:latin typeface="游ゴシック"/>
              <a:ea typeface="游ゴシック"/>
              <a:cs typeface="SimSun"/>
            </a:endParaRPr>
          </a:p>
          <a:p>
            <a:pPr marL="12700" algn="ctr">
              <a:spcBef>
                <a:spcPts val="2900"/>
              </a:spcBef>
              <a:tabLst>
                <a:tab pos="355600" algn="l"/>
              </a:tabLst>
            </a:pPr>
            <a:endParaRPr lang="en-US" sz="2800" b="1" spc="-25" dirty="0">
              <a:latin typeface="游ゴシック"/>
              <a:ea typeface="游ゴシック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2900"/>
              </a:spcBef>
              <a:tabLst>
                <a:tab pos="355600" algn="l"/>
              </a:tabLst>
            </a:pPr>
            <a:r>
              <a:rPr sz="2800" b="1" spc="-25" err="1">
                <a:latin typeface="游ゴシック"/>
                <a:ea typeface="游ゴシック"/>
                <a:cs typeface="SimSun"/>
              </a:rPr>
              <a:t>授業</a:t>
            </a:r>
            <a:endParaRPr sz="2800" b="1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5" dirty="0" err="1">
                <a:latin typeface="游ゴシック"/>
                <a:ea typeface="游ゴシック"/>
                <a:cs typeface="SimSun"/>
              </a:rPr>
              <a:t>取得すると、卒業までの日数が減る</a:t>
            </a:r>
            <a:endParaRPr b="1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b="1" spc="-20" err="1">
                <a:latin typeface="游ゴシック"/>
                <a:ea typeface="游ゴシック"/>
                <a:cs typeface="SimSun"/>
              </a:rPr>
              <a:t>疲労度が増える</a:t>
            </a:r>
            <a:endParaRPr b="1">
              <a:latin typeface="游ゴシック"/>
              <a:ea typeface="游ゴシック"/>
              <a:cs typeface="SimSun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38349C-2E75-EA33-AB2E-B1239E605E7D}"/>
              </a:ext>
            </a:extLst>
          </p:cNvPr>
          <p:cNvCxnSpPr/>
          <p:nvPr/>
        </p:nvCxnSpPr>
        <p:spPr>
          <a:xfrm flipV="1">
            <a:off x="1" y="1259415"/>
            <a:ext cx="12191996" cy="4233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1E2190-0136-3E19-9F03-158684969388}"/>
              </a:ext>
            </a:extLst>
          </p:cNvPr>
          <p:cNvCxnSpPr>
            <a:cxnSpLocks/>
          </p:cNvCxnSpPr>
          <p:nvPr/>
        </p:nvCxnSpPr>
        <p:spPr>
          <a:xfrm>
            <a:off x="3640666" y="1280582"/>
            <a:ext cx="10582" cy="557741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BCEA0-78B5-5937-500F-2A9D639AF250}"/>
              </a:ext>
            </a:extLst>
          </p:cNvPr>
          <p:cNvSpPr txBox="1"/>
          <p:nvPr/>
        </p:nvSpPr>
        <p:spPr>
          <a:xfrm>
            <a:off x="455083" y="1333499"/>
            <a:ext cx="2921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>
                <a:solidFill>
                  <a:srgbClr val="FFC000"/>
                </a:solidFill>
                <a:ea typeface="游ゴシック"/>
              </a:rPr>
              <a:t>アイテム</a:t>
            </a:r>
            <a:endParaRPr lang="en-US" sz="3600" b="1" dirty="0">
              <a:solidFill>
                <a:srgbClr val="FFC000"/>
              </a:solidFill>
              <a:ea typeface="游ゴシック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422568-4A42-2182-7CD2-715C6A1A99DB}"/>
              </a:ext>
            </a:extLst>
          </p:cNvPr>
          <p:cNvCxnSpPr>
            <a:cxnSpLocks/>
          </p:cNvCxnSpPr>
          <p:nvPr/>
        </p:nvCxnSpPr>
        <p:spPr>
          <a:xfrm>
            <a:off x="8244415" y="1280581"/>
            <a:ext cx="10582" cy="557741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697B06-39AC-E6DD-75AA-224B2B1FFC0C}"/>
              </a:ext>
            </a:extLst>
          </p:cNvPr>
          <p:cNvCxnSpPr>
            <a:cxnSpLocks/>
          </p:cNvCxnSpPr>
          <p:nvPr/>
        </p:nvCxnSpPr>
        <p:spPr>
          <a:xfrm flipV="1">
            <a:off x="0" y="6857999"/>
            <a:ext cx="12191996" cy="1058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36455-7D8B-52C0-A503-030C878DB513}"/>
              </a:ext>
            </a:extLst>
          </p:cNvPr>
          <p:cNvSpPr txBox="1"/>
          <p:nvPr/>
        </p:nvSpPr>
        <p:spPr>
          <a:xfrm>
            <a:off x="4624917" y="1333500"/>
            <a:ext cx="31538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>
                <a:solidFill>
                  <a:srgbClr val="00B050"/>
                </a:solidFill>
                <a:ea typeface="游ゴシック"/>
              </a:rPr>
              <a:t>ギミック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380A95E-F29E-3195-8D31-899EADE3E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241" y="1677458"/>
            <a:ext cx="1285875" cy="1219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6EE46FA-AA8F-E1E5-507B-61254EDE3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1" y="4593981"/>
            <a:ext cx="1114425" cy="1000125"/>
          </a:xfrm>
          <a:prstGeom prst="rect">
            <a:avLst/>
          </a:prstGeom>
        </p:spPr>
      </p:pic>
      <p:sp>
        <p:nvSpPr>
          <p:cNvPr id="19" name="Speech Bubble: Oval 18">
            <a:extLst>
              <a:ext uri="{FF2B5EF4-FFF2-40B4-BE49-F238E27FC236}">
                <a16:creationId xmlns:a16="http://schemas.microsoft.com/office/drawing/2014/main" id="{5CEEFD2E-1724-9258-FECD-E921F28A85BA}"/>
              </a:ext>
            </a:extLst>
          </p:cNvPr>
          <p:cNvSpPr/>
          <p:nvPr/>
        </p:nvSpPr>
        <p:spPr>
          <a:xfrm rot="16200000">
            <a:off x="119411" y="4349944"/>
            <a:ext cx="878418" cy="994833"/>
          </a:xfrm>
          <a:prstGeom prst="wedgeEllipse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424D0E-D097-03E5-657C-3C1F4BB3DE78}"/>
              </a:ext>
            </a:extLst>
          </p:cNvPr>
          <p:cNvSpPr txBox="1"/>
          <p:nvPr/>
        </p:nvSpPr>
        <p:spPr>
          <a:xfrm>
            <a:off x="63501" y="4624916"/>
            <a:ext cx="12170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大事！</a:t>
            </a:r>
            <a:endParaRPr lang="en-US" sz="2000" b="1">
              <a:ea typeface="游ゴシック"/>
            </a:endParaRPr>
          </a:p>
        </p:txBody>
      </p:sp>
      <p:sp>
        <p:nvSpPr>
          <p:cNvPr id="22" name="Speech Bubble: Oval 21">
            <a:extLst>
              <a:ext uri="{FF2B5EF4-FFF2-40B4-BE49-F238E27FC236}">
                <a16:creationId xmlns:a16="http://schemas.microsoft.com/office/drawing/2014/main" id="{F98B46A7-872C-933E-35A5-113BAB9EB61A}"/>
              </a:ext>
            </a:extLst>
          </p:cNvPr>
          <p:cNvSpPr/>
          <p:nvPr/>
        </p:nvSpPr>
        <p:spPr>
          <a:xfrm rot="16200000">
            <a:off x="18869" y="1868152"/>
            <a:ext cx="878418" cy="899583"/>
          </a:xfrm>
          <a:prstGeom prst="wedgeEllipse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A7294A-2384-A16C-DCC8-FA2F53BF8A5A}"/>
              </a:ext>
            </a:extLst>
          </p:cNvPr>
          <p:cNvSpPr txBox="1"/>
          <p:nvPr/>
        </p:nvSpPr>
        <p:spPr>
          <a:xfrm>
            <a:off x="-10583" y="2106083"/>
            <a:ext cx="117474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200" b="1">
                <a:ea typeface="游ゴシック"/>
              </a:rPr>
              <a:t>大事！</a:t>
            </a:r>
            <a:endParaRPr lang="en-US" sz="2200" b="1">
              <a:ea typeface="游ゴシック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241F14B9-17B8-4914-CBE8-6B0FD213450D}"/>
              </a:ext>
            </a:extLst>
          </p:cNvPr>
          <p:cNvSpPr txBox="1">
            <a:spLocks noGrp="1"/>
          </p:cNvSpPr>
          <p:nvPr/>
        </p:nvSpPr>
        <p:spPr>
          <a:xfrm>
            <a:off x="7944338" y="2417762"/>
            <a:ext cx="4301735" cy="40113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2400" b="0" i="0" kern="1200">
                <a:solidFill>
                  <a:schemeClr val="tx1"/>
                </a:solidFill>
                <a:latin typeface="SimSun"/>
                <a:ea typeface="+mn-ea"/>
                <a:cs typeface="SimSun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2800" b="1" spc="-20" err="1">
                <a:latin typeface="游ゴシック"/>
                <a:ea typeface="游ゴシック"/>
              </a:rPr>
              <a:t>ゲーム</a:t>
            </a:r>
            <a:endParaRPr lang="en-US" sz="2800" b="1">
              <a:latin typeface="游ゴシック"/>
              <a:ea typeface="游ゴシック"/>
            </a:endParaRPr>
          </a:p>
          <a:p>
            <a:pPr marL="469900" lvl="1">
              <a:lnSpc>
                <a:spcPts val="2870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20" dirty="0" err="1">
                <a:latin typeface="游ゴシック"/>
                <a:ea typeface="游ゴシック"/>
                <a:cs typeface="SimSun"/>
              </a:rPr>
              <a:t>疲労度が上昇</a:t>
            </a:r>
            <a:endParaRPr b="1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55"/>
              </a:lnSpc>
              <a:tabLst>
                <a:tab pos="812800" algn="l"/>
              </a:tabLst>
            </a:pPr>
            <a:r>
              <a:rPr lang="ja-JP" sz="2000" b="1" spc="-5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卒業までの日数が少しだけ増える</a:t>
            </a:r>
            <a:endParaRPr sz="2000" b="1">
              <a:solidFill>
                <a:srgbClr val="FF0000"/>
              </a:solidFill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b="1" spc="-15" err="1">
                <a:latin typeface="游ゴシック"/>
                <a:ea typeface="游ゴシック"/>
                <a:cs typeface="SimSun"/>
              </a:rPr>
              <a:t>踏みつけると、倒すことができ</a:t>
            </a:r>
            <a:r>
              <a:rPr b="1" spc="-15" dirty="0">
                <a:latin typeface="游ゴシック"/>
                <a:ea typeface="游ゴシック"/>
                <a:cs typeface="SimSun"/>
              </a:rPr>
              <a:t>、</a:t>
            </a:r>
            <a:endParaRPr b="1">
              <a:latin typeface="游ゴシック"/>
              <a:ea typeface="游ゴシック"/>
              <a:cs typeface="SimSun"/>
            </a:endParaRP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sz="1800" b="1" spc="-10" dirty="0" err="1">
                <a:latin typeface="游ゴシック"/>
                <a:ea typeface="游ゴシック"/>
              </a:rPr>
              <a:t>プレイヤーが跳ねる</a:t>
            </a:r>
            <a:endParaRPr sz="1800" b="1" spc="-10" dirty="0">
              <a:latin typeface="游ゴシック"/>
              <a:ea typeface="游ゴシック"/>
            </a:endParaRPr>
          </a:p>
          <a:p>
            <a:pPr marL="12700" algn="ctr">
              <a:lnSpc>
                <a:spcPts val="2870"/>
              </a:lnSpc>
              <a:spcBef>
                <a:spcPts val="2900"/>
              </a:spcBef>
              <a:tabLst>
                <a:tab pos="355600" algn="l"/>
              </a:tabLst>
            </a:pPr>
            <a:r>
              <a:rPr sz="2800" b="1" spc="-25" dirty="0" err="1">
                <a:latin typeface="游ゴシック"/>
                <a:ea typeface="游ゴシック"/>
              </a:rPr>
              <a:t>スマホ</a:t>
            </a:r>
            <a:endParaRPr lang="en-US" sz="2800" b="1" spc="-25" dirty="0" err="1">
              <a:latin typeface="游ゴシック"/>
              <a:ea typeface="游ゴシック"/>
            </a:endParaRPr>
          </a:p>
          <a:p>
            <a:pPr marL="469900" lvl="1">
              <a:lnSpc>
                <a:spcPts val="2855"/>
              </a:lnSpc>
              <a:tabLst>
                <a:tab pos="812800" algn="l"/>
              </a:tabLst>
            </a:pPr>
            <a:endParaRPr lang="en-US" spc="-10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55"/>
              </a:lnSpc>
              <a:tabLst>
                <a:tab pos="812800" algn="l"/>
              </a:tabLst>
            </a:pPr>
            <a:r>
              <a:rPr b="1" spc="-10" dirty="0" err="1">
                <a:latin typeface="游ゴシック"/>
                <a:ea typeface="游ゴシック"/>
                <a:cs typeface="SimSun"/>
              </a:rPr>
              <a:t>疲労度が上昇</a:t>
            </a:r>
            <a:endParaRPr b="1" dirty="0"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ts val="2865"/>
              </a:lnSpc>
              <a:tabLst>
                <a:tab pos="812800" algn="l"/>
              </a:tabLst>
            </a:pPr>
            <a:r>
              <a:rPr sz="2000" b="1" spc="-15" err="1">
                <a:solidFill>
                  <a:srgbClr val="FF0000"/>
                </a:solidFill>
                <a:latin typeface="游ゴシック"/>
                <a:ea typeface="游ゴシック"/>
                <a:cs typeface="SimSun"/>
              </a:rPr>
              <a:t>卒業までの日数が増える</a:t>
            </a:r>
            <a:endParaRPr sz="2000" b="1">
              <a:solidFill>
                <a:srgbClr val="FF0000"/>
              </a:solidFill>
              <a:latin typeface="游ゴシック"/>
              <a:ea typeface="游ゴシック"/>
              <a:cs typeface="SimSun"/>
            </a:endParaRPr>
          </a:p>
          <a:p>
            <a:pPr marL="469900" lvl="1">
              <a:lnSpc>
                <a:spcPct val="100000"/>
              </a:lnSpc>
              <a:spcBef>
                <a:spcPts val="50"/>
              </a:spcBef>
              <a:tabLst>
                <a:tab pos="812800" algn="l"/>
              </a:tabLst>
            </a:pPr>
            <a:r>
              <a:rPr b="1" spc="-10" dirty="0" err="1">
                <a:latin typeface="游ゴシック"/>
                <a:ea typeface="游ゴシック"/>
                <a:cs typeface="SimSun"/>
              </a:rPr>
              <a:t>踏むと倒せる</a:t>
            </a:r>
            <a:endParaRPr b="1" dirty="0">
              <a:latin typeface="游ゴシック"/>
              <a:ea typeface="游ゴシック"/>
              <a:cs typeface="SimSun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CA9EA4-6A6B-309B-4BC6-D3CF3054D572}"/>
              </a:ext>
            </a:extLst>
          </p:cNvPr>
          <p:cNvCxnSpPr>
            <a:cxnSpLocks/>
          </p:cNvCxnSpPr>
          <p:nvPr/>
        </p:nvCxnSpPr>
        <p:spPr>
          <a:xfrm>
            <a:off x="12191999" y="1259415"/>
            <a:ext cx="10582" cy="557741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35BB4E-273E-1308-24F1-A5F5DDE44649}"/>
              </a:ext>
            </a:extLst>
          </p:cNvPr>
          <p:cNvCxnSpPr>
            <a:cxnSpLocks/>
          </p:cNvCxnSpPr>
          <p:nvPr/>
        </p:nvCxnSpPr>
        <p:spPr>
          <a:xfrm>
            <a:off x="-2" y="1291164"/>
            <a:ext cx="10582" cy="557741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962718F0-08A8-1554-6103-E63F9F1AF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0265" y="1804010"/>
            <a:ext cx="1561612" cy="135963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23300AC-C9A2-9589-55D8-C5BBBD90B1F3}"/>
              </a:ext>
            </a:extLst>
          </p:cNvPr>
          <p:cNvSpPr txBox="1"/>
          <p:nvPr/>
        </p:nvSpPr>
        <p:spPr>
          <a:xfrm>
            <a:off x="9673166" y="1322917"/>
            <a:ext cx="197908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 b="1">
                <a:solidFill>
                  <a:srgbClr val="FF0000"/>
                </a:solidFill>
                <a:ea typeface="游ゴシック"/>
              </a:rPr>
              <a:t>敵</a:t>
            </a:r>
            <a:endParaRPr lang="en-US" sz="3200" b="1">
              <a:solidFill>
                <a:srgbClr val="FF0000"/>
              </a:solidFill>
              <a:ea typeface="游ゴシック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7257E-C14E-FA9D-8ED7-5394D28030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1634" y="4411173"/>
            <a:ext cx="1347422" cy="1366960"/>
          </a:xfrm>
          <a:prstGeom prst="rect">
            <a:avLst/>
          </a:prstGeom>
        </p:spPr>
      </p:pic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208D5DC9-A278-C76E-39D2-A8A41F73C118}"/>
              </a:ext>
            </a:extLst>
          </p:cNvPr>
          <p:cNvSpPr/>
          <p:nvPr/>
        </p:nvSpPr>
        <p:spPr>
          <a:xfrm rot="14580000" flipV="1">
            <a:off x="10614395" y="65972"/>
            <a:ext cx="1258603" cy="1821146"/>
          </a:xfrm>
          <a:prstGeom prst="wedgeEllipse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D283E4-38E6-9722-55BF-235D874A16A5}"/>
              </a:ext>
            </a:extLst>
          </p:cNvPr>
          <p:cNvSpPr txBox="1"/>
          <p:nvPr/>
        </p:nvSpPr>
        <p:spPr>
          <a:xfrm>
            <a:off x="10352128" y="814102"/>
            <a:ext cx="18398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b="1">
                <a:ea typeface="游ゴシック"/>
              </a:rPr>
              <a:t>惑わされるな！</a:t>
            </a:r>
            <a:endParaRPr lang="en-US" b="1">
              <a:ea typeface="游ゴシック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36B586F-9F84-7584-9FB2-B24A62B760DD}"/>
              </a:ext>
            </a:extLst>
          </p:cNvPr>
          <p:cNvSpPr txBox="1"/>
          <p:nvPr/>
        </p:nvSpPr>
        <p:spPr>
          <a:xfrm>
            <a:off x="240145" y="253669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ボタンでタイトルへ</a:t>
            </a:r>
            <a:endParaRPr kumimoji="1"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START</a:t>
            </a:r>
            <a:r>
              <a:rPr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ボタンでプレイ</a:t>
            </a:r>
            <a:endParaRPr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ボタンでページ送り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8856262-268D-72B3-914F-B8FBE38060C1}"/>
              </a:ext>
            </a:extLst>
          </p:cNvPr>
          <p:cNvSpPr txBox="1"/>
          <p:nvPr/>
        </p:nvSpPr>
        <p:spPr>
          <a:xfrm>
            <a:off x="86506" y="641966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3/3</a:t>
            </a:r>
            <a:endParaRPr kumimoji="1" lang="ja-JP" altLang="en-US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097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青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243</Words>
  <Application>Microsoft Office PowerPoint</Application>
  <PresentationFormat>ワイド画面</PresentationFormat>
  <Paragraphs>65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6" baseType="lpstr">
      <vt:lpstr>Arial MT</vt:lpstr>
      <vt:lpstr>HGP創英ﾌﾟﾚｾﾞﾝｽEB</vt:lpstr>
      <vt:lpstr>Microsoft YaHei</vt:lpstr>
      <vt:lpstr>ＭＳ ゴシック</vt:lpstr>
      <vt:lpstr>SimSun</vt:lpstr>
      <vt:lpstr>メイリオ</vt:lpstr>
      <vt:lpstr>游ゴシック</vt:lpstr>
      <vt:lpstr>游ゴシック Light</vt:lpstr>
      <vt:lpstr>Arial</vt:lpstr>
      <vt:lpstr>Lucida Calligraphy</vt:lpstr>
      <vt:lpstr>Office テーマ</vt:lpstr>
      <vt:lpstr>Office テーマ</vt:lpstr>
      <vt:lpstr>PowerPoint プレゼンテーション</vt:lpstr>
      <vt:lpstr>操作説明</vt:lpstr>
      <vt:lpstr>ゲームルール</vt:lpstr>
      <vt:lpstr>アイテム＆ギミック＆敵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ゲームルール</dc:title>
  <dc:creator>佐藤 颯晃</dc:creator>
  <cp:lastModifiedBy>齋藤 啓大</cp:lastModifiedBy>
  <cp:revision>259</cp:revision>
  <dcterms:created xsi:type="dcterms:W3CDTF">2025-10-08T08:31:27Z</dcterms:created>
  <dcterms:modified xsi:type="dcterms:W3CDTF">2025-12-01T03:21:45Z</dcterms:modified>
</cp:coreProperties>
</file>